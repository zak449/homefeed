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3017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8A8A8A"/>
                </a:solidFill>
                <a:latin typeface="Georgia"/>
              </a:rPr>
              <a:t>11:47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0" i="0">
                <a:solidFill>
                  <a:srgbClr val="F5F5F5"/>
                </a:solidFill>
                <a:latin typeface="Georgia"/>
              </a:rPr>
              <a:t>Your biggest
financial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A8A"/>
                </a:solidFill>
                <a:latin typeface="Georgia"/>
              </a:rPr>
              <a:t>Scrolling alone. No warnings.
No neighbor. Just the listing.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4754880"/>
            <a:ext cx="1005840" cy="1737360"/>
          </a:xfrm>
          <a:prstGeom prst="rect">
            <a:avLst/>
          </a:prstGeom>
          <a:solidFill>
            <a:srgbClr val="1A1A1A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65960" y="4892040"/>
            <a:ext cx="384048" cy="14630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8A8A8A"/>
                </a:solidFill>
                <a:latin typeface="Georgia"/>
              </a:rPr>
              <a:t>3 blocks away.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394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F5F5F5"/>
                </a:solidFill>
                <a:latin typeface="Georgia"/>
              </a:rPr>
              <a:t>Your neighbor.
22 years on this block.
Knows everything.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A8A8A"/>
                </a:solidFill>
                <a:latin typeface="Georgia"/>
              </a:rPr>
              <a:t>Has never met you.
Has the answer you need.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286000"/>
            <a:ext cx="301752" cy="22860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E8A87C"/>
                </a:solidFill>
                <a:latin typeface="Georgia"/>
              </a:rPr>
              <a:t>They've never met. One is about to make a $1.4M mistake.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2636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1274552" cy="127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Something We Lost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0" i="0">
                <a:solidFill>
                  <a:srgbClr val="F5F5F5"/>
                </a:solidFill>
                <a:latin typeface="Georgia"/>
              </a:rPr>
              <a:t>We used to know
our neighbors.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8686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  <a:latin typeface="Helvetica Neue"/>
              </a:rPr>
              <a:t>Someone would warn you before you signed.</a:t>
            </a:r>
          </a:p>
          <a:p>
            <a:pPr algn="l"/>
            <a:r>
              <a:rPr sz="600" b="0" i="0">
                <a:solidFill>
                  <a:srgbClr val="F5F5F5"/>
                </a:solidFill>
                <a:latin typeface="Helvetica Neue"/>
              </a:rPr>
              <a:t/>
            </a:r>
          </a:p>
          <a:p>
            <a:pPr algn="l"/>
            <a:r>
              <a:rPr sz="1600" b="0" i="0">
                <a:solidFill>
                  <a:srgbClr val="F5F5F5"/>
                </a:solidFill>
                <a:latin typeface="Helvetica Neue"/>
              </a:rPr>
              <a:t>Someone at the block party knew which landlord ghosts tenants.</a:t>
            </a:r>
          </a:p>
          <a:p>
            <a:pPr algn="l"/>
            <a:r>
              <a:rPr sz="600" b="0" i="0">
                <a:solidFill>
                  <a:srgbClr val="F5F5F5"/>
                </a:solidFill>
                <a:latin typeface="Helvetica Neue"/>
              </a:rPr>
              <a:t/>
            </a:r>
          </a:p>
          <a:p>
            <a:pPr algn="l"/>
            <a:r>
              <a:rPr sz="1600" b="0" i="0">
                <a:solidFill>
                  <a:srgbClr val="F5F5F5"/>
                </a:solidFill>
                <a:latin typeface="Helvetica Neue"/>
              </a:rPr>
              <a:t>Someone's lived on that block for 22 years and has opinions.</a:t>
            </a:r>
          </a:p>
          <a:p>
            <a:pPr algn="l"/>
            <a:r>
              <a:rPr sz="800" b="0" i="0">
                <a:solidFill>
                  <a:srgbClr val="F5F5F5"/>
                </a:solidFill>
                <a:latin typeface="Helvetica Neue"/>
              </a:rPr>
              <a:t/>
            </a:r>
          </a:p>
          <a:p>
            <a:pPr algn="l"/>
            <a:r>
              <a:rPr sz="1600" b="0" i="1">
                <a:solidFill>
                  <a:srgbClr val="E8A87C"/>
                </a:solidFill>
                <a:latin typeface="Helvetica Neue"/>
              </a:rPr>
              <a:t>That neighborhood truth used to be free.</a:t>
            </a:r>
          </a:p>
          <a:p>
            <a:pPr algn="l"/>
            <a:r>
              <a:rPr sz="1600" b="0" i="1">
                <a:solidFill>
                  <a:srgbClr val="E8A87C"/>
                </a:solidFill>
                <a:latin typeface="Helvetica Neue"/>
              </a:rPr>
              <a:t>Now it's buried.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286000"/>
            <a:ext cx="32918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1">
                <a:solidFill>
                  <a:srgbClr val="8A8A8A"/>
                </a:solidFill>
                <a:latin typeface="Georgia"/>
              </a:rPr>
              <a:t>The front porch.
The block party.
The neighbor who'd warn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2194560"/>
            <a:ext cx="12700" cy="246888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E8A87C"/>
                </a:solidFill>
                <a:latin typeface="Georgia"/>
              </a:rPr>
              <a:t>gwak gwak brings it 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309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3796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8A8A8A"/>
                </a:solidFill>
                <a:latin typeface="Georgia"/>
              </a:rPr>
              <a:t>your favorite local real estate.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0" b="0" i="0">
                <a:solidFill>
                  <a:srgbClr val="E8A87C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5F5F5"/>
                </a:solidFill>
                <a:latin typeface="Georgia"/>
              </a:rPr>
              <a:t>I've been frustrated by this problem for over 10 years.</a:t>
            </a:r>
          </a:p>
          <a:p>
            <a:pPr algn="l"/>
            <a:r>
              <a:rPr sz="800" b="0" i="0">
                <a:solidFill>
                  <a:srgbClr val="F5F5F5"/>
                </a:solidFill>
                <a:latin typeface="Georgia"/>
              </a:rPr>
              <a:t/>
            </a:r>
          </a:p>
          <a:p>
            <a:pPr algn="l"/>
            <a:r>
              <a:rPr sz="1700" b="0" i="0">
                <a:solidFill>
                  <a:srgbClr val="F5F5F5"/>
                </a:solidFill>
                <a:latin typeface="Georgia"/>
              </a:rPr>
              <a:t>Every listing I scrolled, I had something to say.</a:t>
            </a:r>
          </a:p>
          <a:p>
            <a:pPr algn="l"/>
            <a:r>
              <a:rPr sz="1700" b="0" i="0">
                <a:solidFill>
                  <a:srgbClr val="F5F5F5"/>
                </a:solidFill>
                <a:latin typeface="Georgia"/>
              </a:rPr>
              <a:t>A warning. A co-sign. A question.</a:t>
            </a:r>
          </a:p>
          <a:p>
            <a:pPr algn="l"/>
            <a:r>
              <a:rPr sz="800" b="0" i="0">
                <a:solidFill>
                  <a:srgbClr val="F5F5F5"/>
                </a:solidFill>
                <a:latin typeface="Georgia"/>
              </a:rPr>
              <a:t/>
            </a:r>
          </a:p>
          <a:p>
            <a:pPr algn="l"/>
            <a:r>
              <a:rPr sz="1700" b="0" i="1">
                <a:solidFill>
                  <a:srgbClr val="E8A87C"/>
                </a:solidFill>
                <a:latin typeface="Georgia"/>
              </a:rPr>
              <a:t>But there was nowhere to put it.</a:t>
            </a:r>
          </a:p>
          <a:p>
            <a:pPr algn="l"/>
            <a:r>
              <a:rPr sz="800" b="0" i="0">
                <a:solidFill>
                  <a:srgbClr val="F5F5F5"/>
                </a:solidFill>
                <a:latin typeface="Georgia"/>
              </a:rPr>
              <a:t/>
            </a:r>
          </a:p>
          <a:p>
            <a:pPr algn="l"/>
            <a:r>
              <a:rPr sz="1700" b="0" i="0">
                <a:solidFill>
                  <a:srgbClr val="F5F5F5"/>
                </a:solidFill>
                <a:latin typeface="Georgia"/>
              </a:rPr>
              <a:t>You'd share the link and complain to a friend. Or just eat the thought.</a:t>
            </a:r>
          </a:p>
          <a:p>
            <a:pPr algn="l"/>
            <a:r>
              <a:rPr sz="800" b="0" i="0">
                <a:solidFill>
                  <a:srgbClr val="F5F5F5"/>
                </a:solidFill>
                <a:latin typeface="Georgia"/>
              </a:rPr>
              <a:t/>
            </a:r>
          </a:p>
          <a:p>
            <a:pPr algn="l"/>
            <a:r>
              <a:rPr sz="1800" b="1" i="0">
                <a:solidFill>
                  <a:srgbClr val="E8A87C"/>
                </a:solidFill>
                <a:latin typeface="Georgia"/>
              </a:rPr>
              <a:t>gwak gwak is what I needed every single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943600"/>
            <a:ext cx="2743200" cy="127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8A8A8A"/>
                </a:solidFill>
                <a:latin typeface="Georgia"/>
              </a:rPr>
              <a:t>— Founder, gwak gwak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94360"/>
            <a:ext cx="11274552" cy="127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657600" cy="5577840"/>
          </a:xfrm>
          <a:prstGeom prst="rect">
            <a:avLst/>
          </a:prstGeom>
          <a:solidFill>
            <a:srgbClr val="111111"/>
          </a:solidFill>
          <a:ln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868680"/>
            <a:ext cx="914400" cy="16459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8A8A8A"/>
                </a:solidFill>
                <a:latin typeface="Georgia"/>
              </a:rPr>
              <a:t>gwak gwak  ●  Silver Lake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3383280" cy="128016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63040"/>
            <a:ext cx="38100" cy="1280160"/>
          </a:xfrm>
          <a:prstGeom prst="rect">
            <a:avLst/>
          </a:prstGeom>
          <a:solidFill>
            <a:srgbClr val="E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3154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  <a:latin typeface="Georgia"/>
              </a:rPr>
              <a:t>Flooded twice. Insurance won't cover it.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Georgia"/>
              </a:rPr>
              <a:t>verified_silverlake_91  ·  2h  ·  📍 Silver Lake, 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52928"/>
            <a:ext cx="3383280" cy="128016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852928"/>
            <a:ext cx="38100" cy="1280160"/>
          </a:xfrm>
          <a:prstGeom prst="rect">
            <a:avLst/>
          </a:prstGeom>
          <a:solidFill>
            <a:srgbClr val="5CE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62656"/>
            <a:ext cx="3154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  <a:latin typeface="Georgia"/>
              </a:rPr>
              <a:t>Best block in the neighborhood. Kids grew up here. Buy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75888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Georgia"/>
              </a:rPr>
              <a:t>longtime_local_34  ·  5h  ·  📍 Los Feliz, 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242816"/>
            <a:ext cx="3383280" cy="128016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242816"/>
            <a:ext cx="38100" cy="128016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52544"/>
            <a:ext cx="3154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F5F5F5"/>
                </a:solidFill>
                <a:latin typeface="Georgia"/>
              </a:rPr>
              <a:t>Seller is divorcing. Price dropped $80K in 3 weeks. That's why.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65776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Georgia"/>
              </a:rPr>
              <a:t>nosy_neighbor_90026  ·  1d  ·  📍 Echo Park, 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914400"/>
            <a:ext cx="72237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0" i="0">
                <a:solidFill>
                  <a:srgbClr val="F5F5F5"/>
                </a:solidFill>
                <a:latin typeface="Georgia"/>
              </a:rPr>
              <a:t>the comment section
real estate never had.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337560"/>
            <a:ext cx="5943600" cy="127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520440"/>
            <a:ext cx="7132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  <a:latin typeface="Georgia"/>
              </a:rPr>
              <a:t>→  Verified by zip code — your address is your credential.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77640"/>
            <a:ext cx="7132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  <a:latin typeface="Georgia"/>
              </a:rPr>
              <a:t>→  Real neighbors. Real takes. Zero anonymous noise.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34840"/>
            <a:ext cx="7132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  <a:latin typeface="Georgia"/>
              </a:rPr>
              <a:t>→  The conversation every listing deserves.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303520"/>
            <a:ext cx="7132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E8A87C"/>
                </a:solidFill>
                <a:latin typeface="Georgia"/>
              </a:rPr>
              <a:t>Anyone can browse.
Only verified locals can drop takes.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53796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8A8A8A"/>
                </a:solidFill>
                <a:latin typeface="Georgia"/>
              </a:rPr>
              <a:t>your favorite local real estate.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D0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 i="0">
                <a:solidFill>
                  <a:srgbClr val="E8A87C"/>
                </a:solidFill>
                <a:latin typeface="Georgia"/>
              </a:rPr>
              <a:t>$190,000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F5F5F5"/>
                </a:solidFill>
                <a:latin typeface="Georgia"/>
              </a:rPr>
              <a:t>saved in 30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017520"/>
            <a:ext cx="4114800" cy="127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4572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  <a:latin typeface="Georgia"/>
              </a:rPr>
              <a:t>Maria was about to sign on a Silver Lake property.</a:t>
            </a:r>
          </a:p>
          <a:p>
            <a:pPr algn="l"/>
            <a:r>
              <a:rPr sz="500" b="0" i="0">
                <a:solidFill>
                  <a:srgbClr val="F5F5F5"/>
                </a:solidFill>
                <a:latin typeface="Georgia"/>
              </a:rPr>
              <a:t/>
            </a:r>
          </a:p>
          <a:p>
            <a:pPr algn="l"/>
            <a:r>
              <a:rPr sz="1300" b="0" i="0">
                <a:solidFill>
                  <a:srgbClr val="F5F5F5"/>
                </a:solidFill>
                <a:latin typeface="Georgia"/>
              </a:rPr>
              <a:t>A gwak gwak take from a verified neighbor flagged the</a:t>
            </a:r>
          </a:p>
          <a:p>
            <a:pPr algn="l"/>
            <a:r>
              <a:rPr sz="1300" b="0" i="0">
                <a:solidFill>
                  <a:srgbClr val="F5F5F5"/>
                </a:solidFill>
                <a:latin typeface="Georgia"/>
              </a:rPr>
              <a:t>un-permitted back unit.</a:t>
            </a:r>
          </a:p>
          <a:p>
            <a:pPr algn="l"/>
            <a:r>
              <a:rPr sz="500" b="0" i="0">
                <a:solidFill>
                  <a:srgbClr val="F5F5F5"/>
                </a:solidFill>
                <a:latin typeface="Georgia"/>
              </a:rPr>
              <a:t/>
            </a:r>
          </a:p>
          <a:p>
            <a:pPr algn="l"/>
            <a:r>
              <a:rPr sz="1300" b="0" i="0">
                <a:solidFill>
                  <a:srgbClr val="F5F5F5"/>
                </a:solidFill>
                <a:latin typeface="Georgia"/>
              </a:rPr>
              <a:t>She walked. She saved $190K and avoided years of</a:t>
            </a:r>
          </a:p>
          <a:p>
            <a:pPr algn="l"/>
            <a:r>
              <a:rPr sz="1300" b="0" i="0">
                <a:solidFill>
                  <a:srgbClr val="F5F5F5"/>
                </a:solidFill>
                <a:latin typeface="Georgia"/>
              </a:rPr>
              <a:t>legal liability.</a:t>
            </a:r>
          </a:p>
          <a:p>
            <a:pPr algn="l"/>
            <a:r>
              <a:rPr sz="500" b="0" i="0">
                <a:solidFill>
                  <a:srgbClr val="F5F5F5"/>
                </a:solidFill>
                <a:latin typeface="Georgia"/>
              </a:rPr>
              <a:t/>
            </a:r>
          </a:p>
          <a:p>
            <a:pPr algn="l"/>
            <a:r>
              <a:rPr sz="1200" b="0" i="1">
                <a:solidFill>
                  <a:srgbClr val="8A8A8A"/>
                </a:solidFill>
                <a:latin typeface="Georgia"/>
              </a:rPr>
              <a:t>Her neighbor had never met her.</a:t>
            </a:r>
          </a:p>
          <a:p>
            <a:pPr algn="l"/>
            <a:r>
              <a:rPr sz="1200" b="0" i="1">
                <a:solidFill>
                  <a:srgbClr val="8A8A8A"/>
                </a:solidFill>
                <a:latin typeface="Georgia"/>
              </a:rPr>
              <a:t>They just knew the truth about that block.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0"/>
            <a:ext cx="6885432" cy="6858000"/>
          </a:xfrm>
          <a:prstGeom prst="rect">
            <a:avLst/>
          </a:prstGeom>
          <a:solidFill>
            <a:srgbClr val="0A09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73152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0" b="0" i="0">
                <a:solidFill>
                  <a:srgbClr val="E8A87C"/>
                </a:solidFill>
                <a:latin typeface="Georgia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45920"/>
            <a:ext cx="6400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0" i="0">
                <a:solidFill>
                  <a:srgbClr val="F5F5F5"/>
                </a:solidFill>
                <a:latin typeface="Georgia"/>
              </a:rPr>
              <a:t>One comment.
30 seconds.
$190,000.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663440"/>
            <a:ext cx="6400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8A87C"/>
                </a:solidFill>
                <a:latin typeface="Georgia"/>
              </a:rPr>
              <a:t>This is what verified neighborhood
knowledge is worth.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0"/>
            <a:ext cx="25400" cy="68580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309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3796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8A8A8A"/>
                </a:solidFill>
                <a:latin typeface="Georgia"/>
              </a:rPr>
              <a:t>your favorite local real estate.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Who This Is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94360"/>
            <a:ext cx="11274552" cy="127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474720" cy="5029200"/>
          </a:xfrm>
          <a:prstGeom prst="rect">
            <a:avLst/>
          </a:prstGeom>
          <a:solidFill>
            <a:srgbClr val="141414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3474720" cy="54864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5F5F5"/>
                </a:solidFill>
                <a:latin typeface="Georgia"/>
              </a:rPr>
              <a:t>The Millennial
First-Timer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301752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Georgia"/>
              </a:rPr>
              <a:t>Buying alone at 34. No family
in the city. No neighborhood intel.
Just Zillow and hope.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E8A87C"/>
                </a:solidFill>
                <a:latin typeface="Georgia"/>
              </a:rPr>
              <a:t>Median first-time buyer age: 38
(all-time high)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777240"/>
            <a:ext cx="3474720" cy="5029200"/>
          </a:xfrm>
          <a:prstGeom prst="rect">
            <a:avLst/>
          </a:prstGeom>
          <a:solidFill>
            <a:srgbClr val="141414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777240"/>
            <a:ext cx="3474720" cy="54864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96012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5F5F5"/>
                </a:solidFill>
                <a:latin typeface="Georgia"/>
              </a:rPr>
              <a:t>The Long-Time
Resident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90288" y="2057400"/>
            <a:ext cx="301752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19456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Georgia"/>
              </a:rPr>
              <a:t>22 years on this block.
Has opinions about every listing
within 6 blocks.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06908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E8A87C"/>
                </a:solidFill>
                <a:latin typeface="Georgia"/>
              </a:rPr>
              <a:t>Finally has somewhere
to put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7031" y="777240"/>
            <a:ext cx="3474720" cy="5029200"/>
          </a:xfrm>
          <a:prstGeom prst="rect">
            <a:avLst/>
          </a:prstGeom>
          <a:solidFill>
            <a:srgbClr val="141414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7031" y="777240"/>
            <a:ext cx="3474720" cy="54864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1" y="96012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5F5F5"/>
                </a:solidFill>
                <a:latin typeface="Georgia"/>
              </a:rPr>
              <a:t>The Gen Z
Observer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85631" y="2057400"/>
            <a:ext cx="3017520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1" y="219456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Georgia"/>
              </a:rPr>
              <a:t>Priced out. Paying attention.
Watching the neighborhood change
in real 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1" y="4069080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E8A87C"/>
                </a:solidFill>
                <a:latin typeface="Georgia"/>
              </a:rPr>
              <a:t>Only 26.1% of Gen Z own homes.
84% delaying life milestones.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E8A87C"/>
                </a:solidFill>
                <a:latin typeface="Georgia"/>
              </a:rPr>
              <a:t>gwak gwak gives everyone a voice. And a reason to come back.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309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The Problem With Everything Else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74552" cy="127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compet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11795760" cy="67841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309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8A8A8A"/>
                </a:solidFill>
                <a:latin typeface="Georgia"/>
              </a:rPr>
              <a:t>your favorite local real estate.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C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0" b="1" i="0">
                <a:solidFill>
                  <a:srgbClr val="2A1A1A"/>
                </a:solidFill>
                <a:latin typeface="Georgia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2120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F5F5F5"/>
                </a:solidFill>
                <a:latin typeface="Georgia"/>
              </a:rPr>
              <a:t>The last honest voice in
neighborhood journalism
just went dark.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5120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5F5F5"/>
                </a:solidFill>
                <a:latin typeface="Georgia"/>
              </a:rPr>
              <a:t>In early 2026, Vox Media erased 15 years of</a:t>
            </a:r>
          </a:p>
          <a:p>
            <a:pPr algn="l"/>
            <a:r>
              <a:rPr sz="1300" b="0" i="0">
                <a:solidFill>
                  <a:srgbClr val="F5F5F5"/>
                </a:solidFill>
                <a:latin typeface="Georgia"/>
              </a:rPr>
              <a:t>Curbed's local reporting.</a:t>
            </a:r>
          </a:p>
          <a:p>
            <a:pPr algn="l"/>
            <a:r>
              <a:rPr sz="1300" b="0" i="1">
                <a:solidFill>
                  <a:srgbClr val="E8A87C"/>
                </a:solidFill>
                <a:latin typeface="Georgia"/>
              </a:rPr>
              <a:t>SF, LA, all city editions. Gone.</a:t>
            </a:r>
          </a:p>
          <a:p>
            <a:pPr algn="l"/>
            <a:r>
              <a:rPr sz="600" b="0" i="0">
                <a:solidFill>
                  <a:srgbClr val="F5F5F5"/>
                </a:solidFill>
                <a:latin typeface="Georgia"/>
              </a:rPr>
              <a:t/>
            </a:r>
          </a:p>
          <a:p>
            <a:pPr algn="l"/>
            <a:r>
              <a:rPr sz="1200" b="0" i="1">
                <a:solidFill>
                  <a:srgbClr val="8A8A8A"/>
                </a:solidFill>
                <a:latin typeface="Georgia"/>
              </a:rPr>
              <a:t>Called “an act of erasure” by The Architectural Papers.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0"/>
            <a:ext cx="25400" cy="68580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731520"/>
            <a:ext cx="5486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i="0">
                <a:solidFill>
                  <a:srgbClr val="F5F5F5"/>
                </a:solidFill>
                <a:latin typeface="Georgia"/>
              </a:rPr>
              <a:t>The gap is real.
The audience is real.
The need is real.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3108960"/>
            <a:ext cx="5029200" cy="127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3291840"/>
            <a:ext cx="5486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E8A87C"/>
                </a:solidFill>
                <a:latin typeface="Georgia"/>
              </a:rPr>
              <a:t>gwak gwak is the heir.
Community-powered, not journalist-powered.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02920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orgia"/>
              </a:rPr>
              <a:t>15 years of hyperlocal neighborhood journalism erased overnight.
The editorial layer is gone. The community remains. We give them the microphone.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8A8A8A"/>
                </a:solidFill>
                <a:latin typeface="Georgia"/>
              </a:rPr>
              <a:t>your favorite local real estate.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4552" cy="127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Zip-Verified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6858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0" i="0">
                <a:solidFill>
                  <a:srgbClr val="F5F5F5"/>
                </a:solidFill>
                <a:latin typeface="Georgia"/>
              </a:rPr>
              <a:t>Anyone can browse.
Only verified locals
can drop takes.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1">
                <a:solidFill>
                  <a:srgbClr val="E8A87C"/>
                </a:solidFill>
                <a:latin typeface="Georgia"/>
              </a:rPr>
              <a:t>Your address is your credential.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39"/>
            <a:ext cx="3291840" cy="1828800"/>
          </a:xfrm>
          <a:prstGeom prst="rect">
            <a:avLst/>
          </a:prstGeom>
          <a:solidFill>
            <a:srgbClr val="141414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58767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8A87C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39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  <a:latin typeface="Georgia"/>
              </a:rPr>
              <a:t>Sign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46319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orgia"/>
              </a:rPr>
              <a:t>Any device. No friction.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389119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E8A87C"/>
                </a:solidFill>
                <a:latin typeface="Helvetica Neue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3749039"/>
            <a:ext cx="3291840" cy="1828800"/>
          </a:xfrm>
          <a:prstGeom prst="rect">
            <a:avLst/>
          </a:prstGeom>
          <a:solidFill>
            <a:srgbClr val="141414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3858767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8A87C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34339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  <a:latin typeface="Georgia"/>
              </a:rPr>
              <a:t>Address 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846319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orgia"/>
              </a:rPr>
              <a:t>Zip code match. One-time check.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4389119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E8A87C"/>
                </a:solidFill>
                <a:latin typeface="Helvetica Neue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3749039"/>
            <a:ext cx="3291840" cy="1828800"/>
          </a:xfrm>
          <a:prstGeom prst="rect">
            <a:avLst/>
          </a:prstGeom>
          <a:solidFill>
            <a:srgbClr val="141414"/>
          </a:solidFill>
          <a:ln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3858767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8A87C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34339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5F5F5"/>
                </a:solidFill>
                <a:latin typeface="Georgia"/>
              </a:rPr>
              <a:t>Take Unlocked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846319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Georgia"/>
              </a:rPr>
              <a:t>Your voice. Your block. Permanent.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F5F5F5"/>
                </a:solidFill>
                <a:latin typeface="Georgia"/>
              </a:rPr>
              <a:t>This is not anonymous internet. This is your neighbor. With their name on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309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3796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8A8A8A"/>
                </a:solidFill>
                <a:latin typeface="Georgia"/>
              </a:rPr>
              <a:t>your favorite local real estate.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4552" cy="127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The Data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7772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0" i="0">
                <a:solidFill>
                  <a:srgbClr val="F5F5F5"/>
                </a:solidFill>
                <a:latin typeface="Georgia"/>
              </a:rPr>
              <a:t>Every address submitted
is a data point.</a:t>
            </a:r>
          </a:p>
        </p:txBody>
      </p:sp>
      <p:pic>
        <p:nvPicPr>
          <p:cNvPr id="5" name="Picture 4" descr="chart_data_mo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3120"/>
            <a:ext cx="7498079" cy="38042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2194560"/>
            <a:ext cx="3566160" cy="173736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37744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8A87C"/>
                </a:solidFill>
                <a:latin typeface="Georgia"/>
              </a:rPr>
              <a:t>$85K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29184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per zip
(PropTech comp)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4114800"/>
            <a:ext cx="3566160" cy="1737360"/>
          </a:xfrm>
          <a:prstGeom prst="rect">
            <a:avLst/>
          </a:prstGeom>
          <a:solidFill>
            <a:srgbClr val="141414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429768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A8A8A"/>
                </a:solidFill>
                <a:latin typeface="Georgia"/>
              </a:rPr>
              <a:t>Hedge Funds
REITs
Insurance
City Planners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521208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Data Buyers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E8A87C"/>
                </a:solidFill>
                <a:latin typeface="Georgia"/>
              </a:rPr>
              <a:t>No one else has this. Because no one else has the community.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3796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8A8A8A"/>
                </a:solidFill>
                <a:latin typeface="Georgia"/>
              </a:rPr>
              <a:t>your favorite local real estate.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The AI Imagination Layer — The Beyond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127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0" i="0">
                <a:solidFill>
                  <a:srgbClr val="F5F5F5"/>
                </a:solidFill>
                <a:latin typeface="Georgia"/>
              </a:rPr>
              <a:t>What if the comment
wasn't just words?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331720"/>
            <a:ext cx="2743200" cy="3200400"/>
          </a:xfrm>
          <a:prstGeom prst="rect">
            <a:avLst/>
          </a:prstGeom>
          <a:solidFill>
            <a:srgbClr val="141414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331720"/>
            <a:ext cx="2743200" cy="4572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5F5F5"/>
                </a:solidFill>
                <a:latin typeface="Helvetica Neue"/>
              </a:rPr>
              <a:t>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A87C"/>
                </a:solidFill>
                <a:latin typeface="Georgia"/>
              </a:rPr>
              <a:t>SEE THE
FULL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2514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  <a:latin typeface="Georgia"/>
              </a:rPr>
              <a:t>AI pulls historical MLS photos, Street View archives, public records. See a teardown's full life. What it looked like in 1991.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331720"/>
            <a:ext cx="2743200" cy="3200400"/>
          </a:xfrm>
          <a:prstGeom prst="rect">
            <a:avLst/>
          </a:prstGeom>
          <a:solidFill>
            <a:srgbClr val="141414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331720"/>
            <a:ext cx="2743200" cy="4572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4688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5F5F5"/>
                </a:solidFill>
                <a:latin typeface="Helvetica Neue"/>
              </a:rPr>
              <a:t>🛋️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7180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A87C"/>
                </a:solidFill>
                <a:latin typeface="Georgia"/>
              </a:rPr>
              <a:t>REIMAGINE
THE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840480"/>
            <a:ext cx="2514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  <a:latin typeface="Georgia"/>
              </a:rPr>
              <a:t>AI furniture removal. Apply your style. Post your version as a take. “Here’s how I’d do it.” — @silver_lake_22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331720"/>
            <a:ext cx="2743200" cy="3200400"/>
          </a:xfrm>
          <a:prstGeom prst="rect">
            <a:avLst/>
          </a:prstGeom>
          <a:solidFill>
            <a:srgbClr val="141414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331720"/>
            <a:ext cx="2743200" cy="4572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4688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5F5F5"/>
                </a:solidFill>
                <a:latin typeface="Helvetica Neue"/>
              </a:rPr>
              <a:t>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97180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A87C"/>
                </a:solidFill>
                <a:latin typeface="Georgia"/>
              </a:rPr>
              <a:t>BEFORE /
AFTER TAKES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840480"/>
            <a:ext cx="2514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  <a:latin typeface="Georgia"/>
              </a:rPr>
              <a:t>Visual commentary. The flip vs. the original. Side-by-side community reactions.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331720"/>
            <a:ext cx="2743200" cy="3200400"/>
          </a:xfrm>
          <a:prstGeom prst="rect">
            <a:avLst/>
          </a:prstGeom>
          <a:solidFill>
            <a:srgbClr val="141414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2331720"/>
            <a:ext cx="2743200" cy="4572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24688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5F5F5"/>
                </a:solidFill>
                <a:latin typeface="Helvetica Neue"/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97180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8A87C"/>
                </a:solidFill>
                <a:latin typeface="Georgia"/>
              </a:rPr>
              <a:t>VISUAL
TAKES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840480"/>
            <a:ext cx="2514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  <a:latin typeface="Georgia"/>
              </a:rPr>
              <a:t>A new content format. Comments evolve from text to visual stories. No platform has this.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8A8A8A"/>
                </a:solidFill>
                <a:latin typeface="Georgia"/>
              </a:rPr>
              <a:t>No platform has community + AI visual imagination together.  We’re small. We can move fast. We can do anything.   (Coming Q3 2026)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309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3796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8A8A8A"/>
                </a:solidFill>
                <a:latin typeface="Georgia"/>
              </a:rPr>
              <a:t>your favorite local real estate.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Market + Business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127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t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"/>
            <a:ext cx="4754880" cy="4154942"/>
          </a:xfrm>
          <a:prstGeom prst="rect">
            <a:avLst/>
          </a:prstGeom>
        </p:spPr>
      </p:pic>
      <p:pic>
        <p:nvPicPr>
          <p:cNvPr id="5" name="Picture 4" descr="chart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640080"/>
            <a:ext cx="6858000" cy="45223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309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8A8A8A"/>
                </a:solidFill>
                <a:latin typeface="Georgia"/>
              </a:rPr>
              <a:t>your favorite local real estate.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AI-Native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127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F5F5F5"/>
                </a:solidFill>
                <a:latin typeface="Georgia"/>
              </a:rPr>
              <a:t>We built for 2026, not 2016.</a:t>
            </a:r>
          </a:p>
        </p:txBody>
      </p:sp>
      <p:pic>
        <p:nvPicPr>
          <p:cNvPr id="5" name="Picture 4" descr="chart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51213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350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E8A87C"/>
                </a:solidFill>
                <a:latin typeface="Georgia"/>
              </a:rPr>
              <a:t>Lean team. Massive output. No bloat.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8A8A8A"/>
                </a:solidFill>
                <a:latin typeface="Georgia"/>
              </a:rPr>
              <a:t>your favorite local real estate.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127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5029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0" b="1" i="0">
                <a:solidFill>
                  <a:srgbClr val="E8A87C"/>
                </a:solidFill>
                <a:latin typeface="Georgia"/>
              </a:rPr>
              <a:t>$3M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5F5F5"/>
                </a:solidFill>
                <a:latin typeface="Georgia"/>
              </a:rPr>
              <a:t>SAFE note  ·  $15M post-money cap</a:t>
            </a:r>
          </a:p>
        </p:txBody>
      </p:sp>
      <p:pic>
        <p:nvPicPr>
          <p:cNvPr id="6" name="Picture 5" descr="chart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200400"/>
            <a:ext cx="4754880" cy="55188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6858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A8A8A"/>
                </a:solidFill>
                <a:latin typeface="Georgia"/>
              </a:rPr>
              <a:t>Milestones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188720"/>
            <a:ext cx="6126480" cy="914400"/>
          </a:xfrm>
          <a:prstGeom prst="rect">
            <a:avLst/>
          </a:prstGeom>
          <a:solidFill>
            <a:srgbClr val="141414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0" y="1188720"/>
            <a:ext cx="38100" cy="9144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280160"/>
            <a:ext cx="5760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  <a:latin typeface="Georgia"/>
              </a:rPr>
              <a:t>3 cities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69164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Launch markets in LA, SF, NYC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212848"/>
            <a:ext cx="6126480" cy="914400"/>
          </a:xfrm>
          <a:prstGeom prst="rect">
            <a:avLst/>
          </a:prstGeom>
          <a:solidFill>
            <a:srgbClr val="141414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2212848"/>
            <a:ext cx="38100" cy="9144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304288"/>
            <a:ext cx="5760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  <a:latin typeface="Georgia"/>
              </a:rPr>
              <a:t>50K verified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715768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Zip-verified residents, 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236976"/>
            <a:ext cx="6126480" cy="914400"/>
          </a:xfrm>
          <a:prstGeom prst="rect">
            <a:avLst/>
          </a:prstGeom>
          <a:solidFill>
            <a:srgbClr val="141414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3236976"/>
            <a:ext cx="38100" cy="9144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3328416"/>
            <a:ext cx="5760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  <a:latin typeface="Georgia"/>
              </a:rPr>
              <a:t>$500K ARR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739896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Revenue milestone → Series 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4261104"/>
            <a:ext cx="6126480" cy="914400"/>
          </a:xfrm>
          <a:prstGeom prst="rect">
            <a:avLst/>
          </a:prstGeom>
          <a:solidFill>
            <a:srgbClr val="141414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0" y="4261104"/>
            <a:ext cx="38100" cy="9144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4352544"/>
            <a:ext cx="5760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5F5F5"/>
                </a:solidFill>
                <a:latin typeface="Georgia"/>
              </a:rPr>
              <a:t>24 months runway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764024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A8A"/>
                </a:solidFill>
                <a:latin typeface="Georgia"/>
              </a:rPr>
              <a:t>Lean, focused, capital efficient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1675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E8A87C"/>
                </a:solidFill>
                <a:latin typeface="Georgia"/>
              </a:rPr>
              <a:t>We are raising $3M. 24 months runway. Series A ready.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965960" y="7315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7315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9079" y="7315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0" y="7315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7315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59" y="7315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75319" y="7315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0" y="7315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78440" y="7315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73736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5960" y="173736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173736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9079" y="173736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173736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73736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59" y="173736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73736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173736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78440" y="173736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274320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65960" y="274320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7520" y="274320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69079" y="274320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274320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274320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23759" y="274320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19" y="274320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26880" y="274320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78440" y="274320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74904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65960" y="374904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17520" y="374904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69079" y="374904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20640" y="374904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374904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23759" y="374904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75319" y="374904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26880" y="374904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378440" y="374904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" y="475488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65960" y="475488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17520" y="475488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69079" y="475488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120640" y="475488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475488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23759" y="475488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75319" y="475488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26880" y="475488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378440" y="475488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4400" y="57607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65960" y="57607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017520" y="57607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069079" y="57607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20640" y="57607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57607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23759" y="57607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75319" y="57607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26880" y="57607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378440" y="5760720"/>
            <a:ext cx="25400" cy="25400"/>
          </a:xfrm>
          <a:prstGeom prst="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1097280"/>
            <a:ext cx="114300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 i="0">
                <a:solidFill>
                  <a:srgbClr val="F5F5F5"/>
                </a:solidFill>
                <a:latin typeface="Georgia"/>
              </a:rPr>
              <a:t>Every neighborhood has a truth.</a:t>
            </a:r>
          </a:p>
          <a:p>
            <a:pPr algn="ctr"/>
            <a:r>
              <a:rPr sz="1000" b="0" i="0">
                <a:solidFill>
                  <a:srgbClr val="F5F5F5"/>
                </a:solidFill>
                <a:latin typeface="Georgia"/>
              </a:rPr>
              <a:t/>
            </a:r>
          </a:p>
          <a:p>
            <a:pPr algn="ctr"/>
            <a:r>
              <a:rPr sz="2400" b="0" i="1">
                <a:solidFill>
                  <a:srgbClr val="8A8A8A"/>
                </a:solidFill>
                <a:latin typeface="Georgia"/>
              </a:rPr>
              <a:t>We're building the infrastructure to surface it.</a:t>
            </a:r>
          </a:p>
          <a:p>
            <a:pPr algn="ctr"/>
            <a:r>
              <a:rPr sz="2000" b="0" i="0">
                <a:solidFill>
                  <a:srgbClr val="F5F5F5"/>
                </a:solidFill>
                <a:latin typeface="Georgia"/>
              </a:rPr>
              <a:t/>
            </a:r>
          </a:p>
          <a:p>
            <a:pPr algn="ctr"/>
            <a:r>
              <a:rPr sz="2200" b="0" i="0">
                <a:solidFill>
                  <a:srgbClr val="F5F5F5"/>
                </a:solidFill>
                <a:latin typeface="Georgia"/>
              </a:rPr>
              <a:t>This is not a listing site.</a:t>
            </a:r>
          </a:p>
          <a:p>
            <a:pPr algn="ctr"/>
            <a:r>
              <a:rPr sz="600" b="0" i="0">
                <a:solidFill>
                  <a:srgbClr val="F5F5F5"/>
                </a:solidFill>
                <a:latin typeface="Georgia"/>
              </a:rPr>
              <a:t/>
            </a:r>
          </a:p>
          <a:p>
            <a:pPr algn="ctr"/>
            <a:r>
              <a:rPr sz="2200" b="0" i="0">
                <a:solidFill>
                  <a:srgbClr val="E8A87C"/>
                </a:solidFill>
                <a:latin typeface="Georgia"/>
              </a:rPr>
              <a:t>This is where your community lives.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0" y="557784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E8A87C"/>
                </a:solidFill>
                <a:latin typeface="Georgia"/>
              </a:rPr>
              <a:t>gwak gwak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60807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8A8A8A"/>
                </a:solidFill>
                <a:latin typeface="Georgia"/>
              </a:rPr>
              <a:t>your favorite local real estate.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